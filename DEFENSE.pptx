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1dd0c5c899d4089" /><Relationship Type="http://schemas.openxmlformats.org/officeDocument/2006/relationships/extended-properties" Target="/docProps/app.xml" Id="Ra196380875e24feb" /><Relationship Type="http://schemas.openxmlformats.org/officeDocument/2006/relationships/officeDocument" Target="/ppt/presentation.xml" Id="R935aeda3809f4d9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5e2f5f73e99475b"/>
  </p:sldMasterIdLst>
  <p:notesMasterIdLst>
    <p:notesMasterId xmlns:r="http://schemas.openxmlformats.org/officeDocument/2006/relationships" r:id="R218f31298e644093"/>
  </p:notesMasterIdLst>
  <p:sldIdLst>
    <p:sldId xmlns:r="http://schemas.openxmlformats.org/officeDocument/2006/relationships" id="256" r:id="R6d62e0fe4d9d4181"/>
    <p:sldId xmlns:r="http://schemas.openxmlformats.org/officeDocument/2006/relationships" id="257" r:id="R94fb3f325a164e7a"/>
    <p:sldId xmlns:r="http://schemas.openxmlformats.org/officeDocument/2006/relationships" id="258" r:id="R40e09d8afced4943"/>
    <p:sldId xmlns:r="http://schemas.openxmlformats.org/officeDocument/2006/relationships" id="259" r:id="Rbaf1832a3bc84f1d"/>
    <p:sldId xmlns:r="http://schemas.openxmlformats.org/officeDocument/2006/relationships" id="260" r:id="R1e1e6f8bab284740"/>
    <p:sldId xmlns:r="http://schemas.openxmlformats.org/officeDocument/2006/relationships" id="261" r:id="Rfa2119d19eff499f"/>
    <p:sldId xmlns:r="http://schemas.openxmlformats.org/officeDocument/2006/relationships" id="262" r:id="R2a45142f98f34343"/>
    <p:sldId xmlns:r="http://schemas.openxmlformats.org/officeDocument/2006/relationships" id="263" r:id="R0f64e723f581436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5250c213da142b0" /><Relationship Type="http://schemas.openxmlformats.org/officeDocument/2006/relationships/slideMaster" Target="/ppt/slideMasters/slideMaster1.xml" Id="Rc5e2f5f73e99475b" /><Relationship Type="http://schemas.openxmlformats.org/officeDocument/2006/relationships/notesMaster" Target="/ppt/notesMasters/notesMaster1.xml" Id="R218f31298e644093" /><Relationship Type="http://schemas.openxmlformats.org/officeDocument/2006/relationships/presProps" Target="/ppt/presProps.xml" Id="Ra4b00e6851bf497f" /><Relationship Type="http://schemas.openxmlformats.org/officeDocument/2006/relationships/tableStyles" Target="/ppt/tableStyles.xml" Id="Rd32131328d7f4a19" /><Relationship Type="http://schemas.openxmlformats.org/officeDocument/2006/relationships/slide" Target="/ppt/slides/slide1.xml" Id="R6d62e0fe4d9d4181" /><Relationship Type="http://schemas.openxmlformats.org/officeDocument/2006/relationships/slide" Target="/ppt/slides/slide2.xml" Id="R94fb3f325a164e7a" /><Relationship Type="http://schemas.openxmlformats.org/officeDocument/2006/relationships/slide" Target="/ppt/slides/slide3.xml" Id="R40e09d8afced4943" /><Relationship Type="http://schemas.openxmlformats.org/officeDocument/2006/relationships/slide" Target="/ppt/slides/slide4.xml" Id="Rbaf1832a3bc84f1d" /><Relationship Type="http://schemas.openxmlformats.org/officeDocument/2006/relationships/slide" Target="/ppt/slides/slide5.xml" Id="R1e1e6f8bab284740" /><Relationship Type="http://schemas.openxmlformats.org/officeDocument/2006/relationships/slide" Target="/ppt/slides/slide6.xml" Id="Rfa2119d19eff499f" /><Relationship Type="http://schemas.openxmlformats.org/officeDocument/2006/relationships/slide" Target="/ppt/slides/slide7.xml" Id="R2a45142f98f34343" /><Relationship Type="http://schemas.openxmlformats.org/officeDocument/2006/relationships/slide" Target="/ppt/slides/slide8.xml" Id="R0f64e723f581436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d3fc6689849456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f2b88c231ed4bec" /><Relationship Type="http://schemas.openxmlformats.org/officeDocument/2006/relationships/notesMaster" Target="/ppt/notesMasters/notesMaster1.xml" Id="R244fd4fd951e432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81055e98b3d4d17" /><Relationship Type="http://schemas.openxmlformats.org/officeDocument/2006/relationships/notesMaster" Target="/ppt/notesMasters/notesMaster1.xml" Id="Rd612eaece7aa4de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d67668406a444ac" /><Relationship Type="http://schemas.openxmlformats.org/officeDocument/2006/relationships/notesMaster" Target="/ppt/notesMasters/notesMaster1.xml" Id="R3e2d5c3b95814e3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bb87788a5ad4a52" /><Relationship Type="http://schemas.openxmlformats.org/officeDocument/2006/relationships/notesMaster" Target="/ppt/notesMasters/notesMaster1.xml" Id="R9ce4b209af03414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3a88727a06b4381" /><Relationship Type="http://schemas.openxmlformats.org/officeDocument/2006/relationships/notesMaster" Target="/ppt/notesMasters/notesMaster1.xml" Id="Raa041873d91b46f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fb43e861d8449de" /><Relationship Type="http://schemas.openxmlformats.org/officeDocument/2006/relationships/notesMaster" Target="/ppt/notesMasters/notesMaster1.xml" Id="R0494fb763ca44d9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1ea50fabc4c4581" /><Relationship Type="http://schemas.openxmlformats.org/officeDocument/2006/relationships/notesMaster" Target="/ppt/notesMasters/notesMaster1.xml" Id="R0b9e1ee3638046d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0016ea2683d4815" /><Relationship Type="http://schemas.openxmlformats.org/officeDocument/2006/relationships/notesMaster" Target="/ppt/notesMasters/notesMaster1.xml" Id="Rc855d72eca044b0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пользовательская концепция OQIM и условия финала. Код: https://github.com/baytoooo/parivision-traffic (AGPL-3.0), https://github.com/tensorflow/tfjs-models/tree/master/coco-ssd (Apache-2.0). Числа симуляции: benchmark.json, seed 42. Финансовые показатели являются гипотезами.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пользовательская концепция OQIM и условия финала. Код: https://github.com/baytoooo/parivision-traffic (AGPL-3.0), https://github.com/tensorflow/tfjs-models/tree/master/coco-ssd (Apache-2.0). Числа симуляции: benchmark.json, seed 42. Финансовые показатели являются гипотезами.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пользовательская концепция OQIM и условия финала. Код: https://github.com/baytoooo/parivision-traffic (AGPL-3.0), https://github.com/tensorflow/tfjs-models/tree/master/coco-ssd (Apache-2.0). Числа симуляции: benchmark.json, seed 42. Финансовые показатели являются гипотезами.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пользовательская концепция OQIM и условия финала. Код: https://github.com/baytoooo/parivision-traffic (AGPL-3.0), https://github.com/tensorflow/tfjs-models/tree/master/coco-ssd (Apache-2.0). Числа симуляции: benchmark.json, seed 42. Финансовые показатели являются гипотезами.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пользовательская концепция OQIM и условия финала. Код: https://github.com/baytoooo/parivision-traffic (AGPL-3.0), https://github.com/tensorflow/tfjs-models/tree/master/coco-ssd (Apache-2.0). Числа симуляции: benchmark.json, seed 42. Финансовые показатели являются гипотезами.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пользовательская концепция OQIM и условия финала. Код: https://github.com/baytoooo/parivision-traffic (AGPL-3.0), https://github.com/tensorflow/tfjs-models/tree/master/coco-ssd (Apache-2.0). Числа симуляции: benchmark.json, seed 42. Финансовые показатели являются гипотезами.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пользовательская концепция OQIM и условия финала. Код: https://github.com/baytoooo/parivision-traffic (AGPL-3.0), https://github.com/tensorflow/tfjs-models/tree/master/coco-ssd (Apache-2.0). Числа симуляции: benchmark.json, seed 42. Финансовые показатели являются гипотезами.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пользовательская концепция OQIM и условия финала. Код: https://github.com/baytoooo/parivision-traffic (AGPL-3.0), https://github.com/tensorflow/tfjs-models/tree/master/coco-ssd (Apache-2.0). Числа симуляции: benchmark.json, seed 42. Финансовые показатели являются гипотезами.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bc83429684415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bf984688b44da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01cb1ff3014c7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6a41b642d840d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8ad0793a024c7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3d4599bdb3412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967A86A-CF09-4012-94D4-FFF8ABAC68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358CC8D-83C9-4322-88AF-2F5AC7D9935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05D38F5-DF64-4ABA-BCF1-8A10982F55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93155FE-B027-4EF7-B521-B8AE78C0E18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3D14662-1FDB-44E1-A989-981CFEDB1F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8270CE4-0039-425B-B561-9F78E73EAE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0C3AFE9-85E9-48A3-92CC-68C66282DEB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7927BC3-59FC-4A1C-911C-D15F81AC9AB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58A6BDC-073A-4E24-B8DE-D8FC667274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57CC0F6-3664-41DF-82D8-3A84BAE4B41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470703950794369" /><Relationship Type="http://schemas.openxmlformats.org/officeDocument/2006/relationships/slideLayout" Target="/ppt/slideLayouts/slideLayout1.xml" Id="Rc54b7506070a4498" /><Relationship Type="http://schemas.openxmlformats.org/officeDocument/2006/relationships/slideLayout" Target="/ppt/slideLayouts/slideLayout2.xml" Id="R62779636b6da4b81" /><Relationship Type="http://schemas.openxmlformats.org/officeDocument/2006/relationships/slideLayout" Target="/ppt/slideLayouts/slideLayout3.xml" Id="R7ba60b01033b46db" /><Relationship Type="http://schemas.openxmlformats.org/officeDocument/2006/relationships/slideLayout" Target="/ppt/slideLayouts/slideLayout4.xml" Id="R948298a5e5e848a6" /><Relationship Type="http://schemas.openxmlformats.org/officeDocument/2006/relationships/slideLayout" Target="/ppt/slideLayouts/slideLayout5.xml" Id="Rd30e3e52b8b6460f" /><Relationship Type="http://schemas.openxmlformats.org/officeDocument/2006/relationships/slideLayout" Target="/ppt/slideLayouts/slideLayout6.xml" Id="R33afba183a8f426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54b7506070a4498"/>
    <p:sldLayoutId xmlns:r="http://schemas.openxmlformats.org/officeDocument/2006/relationships" id="2147483650" r:id="R62779636b6da4b81"/>
    <p:sldLayoutId xmlns:r="http://schemas.openxmlformats.org/officeDocument/2006/relationships" id="2147483651" r:id="R7ba60b01033b46db"/>
    <p:sldLayoutId xmlns:r="http://schemas.openxmlformats.org/officeDocument/2006/relationships" id="2147483652" r:id="R948298a5e5e848a6"/>
    <p:sldLayoutId xmlns:r="http://schemas.openxmlformats.org/officeDocument/2006/relationships" id="2147483653" r:id="Rd30e3e52b8b6460f"/>
    <p:sldLayoutId xmlns:r="http://schemas.openxmlformats.org/officeDocument/2006/relationships" id="2147483654" r:id="R33afba183a8f426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4ec592a8ba747b1" /><Relationship Type="http://schemas.openxmlformats.org/officeDocument/2006/relationships/notesSlide" Target="/ppt/notesSlides/notesSlide1.xml" Id="R75637684bbdc405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ff1501d28b14698" /><Relationship Type="http://schemas.openxmlformats.org/officeDocument/2006/relationships/notesSlide" Target="/ppt/notesSlides/notesSlide2.xml" Id="R5c1e709b2ee548a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7e318d9b114745" /><Relationship Type="http://schemas.openxmlformats.org/officeDocument/2006/relationships/notesSlide" Target="/ppt/notesSlides/notesSlide3.xml" Id="R571ac6391878496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ae2e6538c874782" /><Relationship Type="http://schemas.openxmlformats.org/officeDocument/2006/relationships/notesSlide" Target="/ppt/notesSlides/notesSlide4.xml" Id="R31ed9fb2ac7f4a2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8121c0b0654464" /><Relationship Type="http://schemas.openxmlformats.org/officeDocument/2006/relationships/notesSlide" Target="/ppt/notesSlides/notesSlide5.xml" Id="R71ca3a07fe90480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5aa6d683314dfb" /><Relationship Type="http://schemas.openxmlformats.org/officeDocument/2006/relationships/notesSlide" Target="/ppt/notesSlides/notesSlide6.xml" Id="R8550d08c39284a2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24ab0b01869452f" /><Relationship Type="http://schemas.openxmlformats.org/officeDocument/2006/relationships/notesSlide" Target="/ppt/notesSlides/notesSlide7.xml" Id="R3f1528b8f6264d1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6cb2ecefec480a" /><Relationship Type="http://schemas.openxmlformats.org/officeDocument/2006/relationships/notesSlide" Target="/ppt/notesSlides/notesSlide8.xml" Id="R6daf795e9a21421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1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9865EC-6F1B-4863-9415-06AFA4D15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1000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70E4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70E4B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0E4B7"/>
                </a:solidFill>
                <a:latin typeface="Arial"/>
                <a:ea typeface="Arial"/>
                <a:cs typeface="Arial"/>
              </a:rPr>
              <a:t>OQIM AI     /     STARTUP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587110-21E8-4BB6-A226-7EC4AD709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763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Упреждающее управление</a:t>
            </a:r>
          </a:p>
          <a:p xmlns:a="http://schemas.openxmlformats.org/drawingml/2006/main">
            <a:pPr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дорожной сетью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07180C-BF1F-4C02-8311-B17DE2010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106680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DE8F0"/>
                </a:solidFill>
                <a:latin typeface="Arial"/>
                <a:ea typeface="Arial"/>
                <a:cs typeface="Arial"/>
              </a:rPr>
              <a:t>Работающий исследовательский прототип</a:t>
            </a:r>
          </a:p>
          <a:p xmlns:a="http://schemas.openxmlformats.org/drawingml/2006/main">
            <a: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DE8F0"/>
                </a:solidFill>
                <a:latin typeface="Arial"/>
                <a:ea typeface="Arial"/>
                <a:cs typeface="Arial"/>
              </a:rPr>
              <a:t>Видеоаналитика, прогноз очередей и проверка светофорных решений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DE8F0"/>
                </a:solidFill>
                <a:latin typeface="Arial"/>
                <a:ea typeface="Arial"/>
                <a:cs typeface="Arial"/>
              </a:rPr>
              <a:t>Покупатель: транспортный оператор или интегратор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F8FA32-7C58-4E10-BE10-1A30B1C26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3412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8C9BA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8C9BA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8C9BAA"/>
                </a:solidFill>
                <a:latin typeface="Arial"/>
                <a:ea typeface="Arial"/>
                <a:cs typeface="Arial"/>
              </a:rPr>
              <a:t>1 / 8</a:t>
            </a:r>
          </a:p>
        </p:txBody>
      </p:sp>
    </p:spTree>
    <p:extLst>
      <p:ext uri="{BB962C8B-B14F-4D97-AF65-F5344CB8AC3E}">
        <p14:creationId xmlns:p14="http://schemas.microsoft.com/office/powerpoint/2010/main" val="17697408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1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90034A-F068-4E4D-8754-C54EB5E38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1000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70E4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70E4B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0E4B7"/>
                </a:solidFill>
                <a:latin typeface="Arial"/>
                <a:ea typeface="Arial"/>
                <a:cs typeface="Arial"/>
              </a:rPr>
              <a:t>OQIM AI     /     STARTUP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F00636-EFA6-4D90-803E-61FA858AD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763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Проблема и первый покупатель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F68B04-CBDE-4E9C-99CC-8615612C8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106680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DE8F0"/>
                </a:solidFill>
                <a:latin typeface="Arial"/>
                <a:ea typeface="Arial"/>
                <a:cs typeface="Arial"/>
              </a:rPr>
              <a:t>Локальное увеличение зелёного может заполнить следующую дорогу.</a:t>
            </a:r>
          </a:p>
          <a:p xmlns:a="http://schemas.openxmlformats.org/drawingml/2006/main">
            <a: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DE8F0"/>
                </a:solidFill>
                <a:latin typeface="Arial"/>
                <a:ea typeface="Arial"/>
                <a:cs typeface="Arial"/>
              </a:rPr>
              <a:t>Оператору нужна оценка последствий для связанной сети.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DE8F0"/>
                </a:solidFill>
                <a:latin typeface="Arial"/>
                <a:ea typeface="Arial"/>
                <a:cs typeface="Arial"/>
              </a:rPr>
              <a:t>Первый пилот: несколько перекрёстков или подъезд к объекту.</a:t>
            </a:r>
          </a:p>
          <a:p xmlns:a="http://schemas.openxmlformats.org/drawingml/2006/main">
            <a: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DE8F0"/>
                </a:solidFill>
                <a:latin typeface="Arial"/>
                <a:ea typeface="Arial"/>
                <a:cs typeface="Arial"/>
              </a:rPr>
              <a:t>Парковочная аналитика остаётся отдельным коммерческим направлением.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CF2E2A-8E96-48A6-8B22-443A1600F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3412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8C9BA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8C9BA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8C9BAA"/>
                </a:solidFill>
                <a:latin typeface="Arial"/>
                <a:ea typeface="Arial"/>
                <a:cs typeface="Arial"/>
              </a:rPr>
              <a:t>2 / 8</a:t>
            </a:r>
          </a:p>
        </p:txBody>
      </p:sp>
    </p:spTree>
    <p:extLst>
      <p:ext uri="{BB962C8B-B14F-4D97-AF65-F5344CB8AC3E}">
        <p14:creationId xmlns:p14="http://schemas.microsoft.com/office/powerpoint/2010/main" val="195128283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1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95A587-4C29-4FAB-8E1D-20E3BEAC3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1000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70E4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70E4B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0E4B7"/>
                </a:solidFill>
                <a:latin typeface="Arial"/>
                <a:ea typeface="Arial"/>
                <a:cs typeface="Arial"/>
              </a:rPr>
              <a:t>OQIM AI     /     STARTUP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69D9FD-38AE-41EB-8E05-5EAE8E5F3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763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Живое демо на новом входе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2EC2AD-0D7C-496F-BFE2-C7F6C7C7C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106680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DE8F0"/>
                </a:solidFill>
                <a:latin typeface="Arial"/>
                <a:ea typeface="Arial"/>
                <a:cs typeface="Arial"/>
              </a:rPr>
              <a:t>1. Загрузить разрешённое видео и задать линию учёта.</a:t>
            </a:r>
          </a:p>
          <a:p xmlns:a="http://schemas.openxmlformats.org/drawingml/2006/main">
            <a: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DE8F0"/>
                </a:solidFill>
                <a:latin typeface="Arial"/>
                <a:ea typeface="Arial"/>
                <a:cs typeface="Arial"/>
              </a:rPr>
              <a:t>2. Получить измеренный поток и скорость обработки.</a:t>
            </a:r>
          </a:p>
          <a:p xmlns:a="http://schemas.openxmlformats.org/drawingml/2006/main">
            <a: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DE8F0"/>
                </a:solidFill>
                <a:latin typeface="Arial"/>
                <a:ea typeface="Arial"/>
                <a:cs typeface="Arial"/>
              </a:rPr>
              <a:t>3. Передать поток в сеть и рассчитать три режима.</a:t>
            </a:r>
          </a:p>
          <a:p xmlns:a="http://schemas.openxmlformats.org/drawingml/2006/main">
            <a: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DE8F0"/>
                </a:solidFill>
                <a:latin typeface="Arial"/>
                <a:ea typeface="Arial"/>
                <a:cs typeface="Arial"/>
              </a:rPr>
              <a:t>4. Изменить спрос или блокировку, скачать полный отчёт.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DE8F0"/>
                </a:solidFill>
                <a:latin typeface="Arial"/>
                <a:ea typeface="Arial"/>
                <a:cs typeface="Arial"/>
              </a:rPr>
              <a:t>Видео обрабатывается на устройстве пользователя.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966B33-7151-405D-A56D-7876CE6C0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3412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8C9BA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8C9BA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8C9BAA"/>
                </a:solidFill>
                <a:latin typeface="Arial"/>
                <a:ea typeface="Arial"/>
                <a:cs typeface="Arial"/>
              </a:rPr>
              <a:t>3 / 8</a:t>
            </a:r>
          </a:p>
        </p:txBody>
      </p:sp>
    </p:spTree>
    <p:extLst>
      <p:ext uri="{BB962C8B-B14F-4D97-AF65-F5344CB8AC3E}">
        <p14:creationId xmlns:p14="http://schemas.microsoft.com/office/powerpoint/2010/main" val="119290769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1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EE163E-8DFF-4C92-95D7-BFC0DFEFF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1000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70E4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70E4B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0E4B7"/>
                </a:solidFill>
                <a:latin typeface="Arial"/>
                <a:ea typeface="Arial"/>
                <a:cs typeface="Arial"/>
              </a:rPr>
              <a:t>OQIM AI     /     STARTUP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38025B-631B-42DB-97E5-725AACEB2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763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Технология и происхождение кода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21E46F-4307-4F4C-8892-354F8B99C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106680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DE8F0"/>
                </a:solidFill>
                <a:latin typeface="Arial"/>
                <a:ea typeface="Arial"/>
                <a:cs typeface="Arial"/>
              </a:rPr>
              <a:t>Открытые детектор и ByteTrack преобразуют видео в поток.</a:t>
            </a:r>
          </a:p>
          <a:p xmlns:a="http://schemas.openxmlformats.org/drawingml/2006/main">
            <a: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DE8F0"/>
                </a:solidFill>
                <a:latin typeface="Arial"/>
                <a:ea typeface="Arial"/>
                <a:cs typeface="Arial"/>
              </a:rPr>
              <a:t>Сетевая модель учитывает очереди, вместимость и время проезда.</a:t>
            </a:r>
          </a:p>
          <a:p xmlns:a="http://schemas.openxmlformats.org/drawingml/2006/main">
            <a: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DE8F0"/>
                </a:solidFill>
                <a:latin typeface="Arial"/>
                <a:ea typeface="Arial"/>
                <a:cs typeface="Arial"/>
              </a:rPr>
              <a:t>Оптимизатор проверяет длительности зелёного на горизонте 90 с.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DE8F0"/>
                </a:solidFill>
                <a:latin typeface="Arial"/>
                <a:ea typeface="Arial"/>
                <a:cs typeface="Arial"/>
              </a:rPr>
              <a:t>Паривижн: переиспользованный открытый код, AGPL-3.0.</a:t>
            </a:r>
          </a:p>
          <a:p xmlns:a="http://schemas.openxmlformats.org/drawingml/2006/main">
            <a: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DE8F0"/>
                </a:solidFill>
                <a:latin typeface="Arial"/>
                <a:ea typeface="Arial"/>
                <a:cs typeface="Arial"/>
              </a:rPr>
              <a:t>Новые компоненты OQIM: модель сети, сравнение и интеграция.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B2240B-3715-4D7F-9660-B362F6C61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3412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8C9BA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8C9BA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8C9BAA"/>
                </a:solidFill>
                <a:latin typeface="Arial"/>
                <a:ea typeface="Arial"/>
                <a:cs typeface="Arial"/>
              </a:rPr>
              <a:t>4 / 8</a:t>
            </a:r>
          </a:p>
        </p:txBody>
      </p:sp>
    </p:spTree>
    <p:extLst>
      <p:ext uri="{BB962C8B-B14F-4D97-AF65-F5344CB8AC3E}">
        <p14:creationId xmlns:p14="http://schemas.microsoft.com/office/powerpoint/2010/main" val="7169964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1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68F58E-6DF7-4930-B10F-2D0F52757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1000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70E4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70E4B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0E4B7"/>
                </a:solidFill>
                <a:latin typeface="Arial"/>
                <a:ea typeface="Arial"/>
                <a:cs typeface="Arial"/>
              </a:rPr>
              <a:t>OQIM AI     /     STARTUP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D87928-A728-4208-B490-4C7804D59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763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Результат воспроизводимой симуляции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8D754F-B940-4105-925F-50CBEDB18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106680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DE8F0"/>
                </a:solidFill>
                <a:latin typeface="Arial"/>
                <a:ea typeface="Arial"/>
                <a:cs typeface="Arial"/>
              </a:rPr>
              <a:t>4 узла, 10 минут, seed 42, основной вход 650 машин/ч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DE8F0"/>
                </a:solidFill>
                <a:latin typeface="Arial"/>
                <a:ea typeface="Arial"/>
                <a:cs typeface="Arial"/>
              </a:rPr>
              <a:t>Фиксированный режим: 18.2 с задержки на машину</a:t>
            </a:r>
          </a:p>
          <a:p xmlns:a="http://schemas.openxmlformats.org/drawingml/2006/main">
            <a: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DE8F0"/>
                </a:solidFill>
                <a:latin typeface="Arial"/>
                <a:ea typeface="Arial"/>
                <a:cs typeface="Arial"/>
              </a:rPr>
              <a:t>Реактивный режим: 19.6 с</a:t>
            </a:r>
          </a:p>
          <a:p xmlns:a="http://schemas.openxmlformats.org/drawingml/2006/main">
            <a: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DE8F0"/>
                </a:solidFill>
                <a:latin typeface="Arial"/>
                <a:ea typeface="Arial"/>
                <a:cs typeface="Arial"/>
              </a:rPr>
              <a:t>OQIM: 15.9 с (12.6% меньше фиксированного)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DE8F0"/>
                </a:solidFill>
                <a:latin typeface="Arial"/>
                <a:ea typeface="Arial"/>
                <a:cs typeface="Arial"/>
              </a:rPr>
              <a:t>Синтетический сценарий. Эффект в реальном городе не установлен.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697A06-58E5-4B69-89E2-F8DACD3AA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3412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8C9BA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8C9BA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8C9BAA"/>
                </a:solidFill>
                <a:latin typeface="Arial"/>
                <a:ea typeface="Arial"/>
                <a:cs typeface="Arial"/>
              </a:rPr>
              <a:t>5 / 8</a:t>
            </a:r>
          </a:p>
        </p:txBody>
      </p:sp>
    </p:spTree>
    <p:extLst>
      <p:ext uri="{BB962C8B-B14F-4D97-AF65-F5344CB8AC3E}">
        <p14:creationId xmlns:p14="http://schemas.microsoft.com/office/powerpoint/2010/main" val="147130379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1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7DFCCD-CD86-414E-A69D-63A1BB6AB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1000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70E4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70E4B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0E4B7"/>
                </a:solidFill>
                <a:latin typeface="Arial"/>
                <a:ea typeface="Arial"/>
                <a:cs typeface="Arial"/>
              </a:rPr>
              <a:t>OQIM AI     /     STARTUP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EA3E57-A66F-4D2F-8F3B-775927C7A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763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Проверка и ограничения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B07CA7-2D55-4A8B-B0AC-382C6B5F5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106680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DE8F0"/>
                </a:solidFill>
                <a:latin typeface="Arial"/>
                <a:ea typeface="Arial"/>
                <a:cs typeface="Arial"/>
              </a:rPr>
              <a:t>Автотесты проверяют сохранение потока, вместимость и фазы.</a:t>
            </a:r>
          </a:p>
          <a:p xmlns:a="http://schemas.openxmlformats.org/drawingml/2006/main">
            <a: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DE8F0"/>
                </a:solidFill>
                <a:latin typeface="Arial"/>
                <a:ea typeface="Arial"/>
                <a:cs typeface="Arial"/>
              </a:rPr>
              <a:t>Все режимы получают одинаковые входные машины.</a:t>
            </a:r>
          </a:p>
          <a:p xmlns:a="http://schemas.openxmlformats.org/drawingml/2006/main">
            <a: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DE8F0"/>
                </a:solidFill>
                <a:latin typeface="Arial"/>
                <a:ea typeface="Arial"/>
                <a:cs typeface="Arial"/>
              </a:rPr>
              <a:t>Незавершённые поездки и внешние очереди входят в отчёт.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DE8F0"/>
                </a:solidFill>
                <a:latin typeface="Arial"/>
                <a:ea typeface="Arial"/>
                <a:cs typeface="Arial"/>
              </a:rPr>
              <a:t>Реальные светофоры не подключены.</a:t>
            </a:r>
          </a:p>
          <a:p xmlns:a="http://schemas.openxmlformats.org/drawingml/2006/main">
            <a: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DE8F0"/>
                </a:solidFill>
                <a:latin typeface="Arial"/>
                <a:ea typeface="Arial"/>
                <a:cs typeface="Arial"/>
              </a:rPr>
              <a:t>Ночь, дождь и местный транспорт требуют отдельной оценки качества.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FC8E1C-3E58-4421-8B71-D7F7ECD36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3412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8C9BA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8C9BA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8C9BAA"/>
                </a:solidFill>
                <a:latin typeface="Arial"/>
                <a:ea typeface="Arial"/>
                <a:cs typeface="Arial"/>
              </a:rPr>
              <a:t>6 / 8</a:t>
            </a:r>
          </a:p>
        </p:txBody>
      </p:sp>
    </p:spTree>
    <p:extLst>
      <p:ext uri="{BB962C8B-B14F-4D97-AF65-F5344CB8AC3E}">
        <p14:creationId xmlns:p14="http://schemas.microsoft.com/office/powerpoint/2010/main" val="193424770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1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95063B-5DCA-4674-A8DF-FF58CC9AD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1000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70E4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70E4B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0E4B7"/>
                </a:solidFill>
                <a:latin typeface="Arial"/>
                <a:ea typeface="Arial"/>
                <a:cs typeface="Arial"/>
              </a:rPr>
              <a:t>OQIM AI     /     STARTUP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AD40DC-5D06-4A8B-AFCF-1465DFB65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763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Экономика пилота: гипотезы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45F4C2-82A0-4342-8351-F867D675E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106680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DE8F0"/>
                </a:solidFill>
                <a:latin typeface="Arial"/>
                <a:ea typeface="Arial"/>
                <a:cs typeface="Arial"/>
              </a:rPr>
              <a:t>Подключение $1 000. Подписка $300 в месяц.</a:t>
            </a:r>
          </a:p>
          <a:p xmlns:a="http://schemas.openxmlformats.org/drawingml/2006/main">
            <a: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DE8F0"/>
                </a:solidFill>
                <a:latin typeface="Arial"/>
                <a:ea typeface="Arial"/>
                <a:cs typeface="Arial"/>
              </a:rPr>
              <a:t>Прямые расходы $120 в месяц. Остаток до общих расходов $180.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DE8F0"/>
                </a:solidFill>
                <a:latin typeface="Arial"/>
                <a:ea typeface="Arial"/>
                <a:cs typeface="Arial"/>
              </a:rPr>
              <a:t>При выгоде клиента $600 в месяц: после подписки остаётся $300.</a:t>
            </a:r>
          </a:p>
          <a:p xmlns:a="http://schemas.openxmlformats.org/drawingml/2006/main">
            <a: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DE8F0"/>
                </a:solidFill>
                <a:latin typeface="Arial"/>
                <a:ea typeface="Arial"/>
                <a:cs typeface="Arial"/>
              </a:rPr>
              <a:t>Окупаемость подключения: 3,3 месяца.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DE8F0"/>
                </a:solidFill>
                <a:latin typeface="Arial"/>
                <a:ea typeface="Arial"/>
                <a:cs typeface="Arial"/>
              </a:rPr>
              <a:t>Выгода не измерена. Оборудование и городская интеграция отдельно.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292B7E-DD03-48C3-8395-3A05B16F8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3412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8C9BA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8C9BA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8C9BAA"/>
                </a:solidFill>
                <a:latin typeface="Arial"/>
                <a:ea typeface="Arial"/>
                <a:cs typeface="Arial"/>
              </a:rPr>
              <a:t>7 / 8</a:t>
            </a:r>
          </a:p>
        </p:txBody>
      </p:sp>
    </p:spTree>
    <p:extLst>
      <p:ext uri="{BB962C8B-B14F-4D97-AF65-F5344CB8AC3E}">
        <p14:creationId xmlns:p14="http://schemas.microsoft.com/office/powerpoint/2010/main" val="78447080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1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3946F5-4FD2-40C0-9B3A-CEBB5B456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1000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70E4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70E4B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0E4B7"/>
                </a:solidFill>
                <a:latin typeface="Arial"/>
                <a:ea typeface="Arial"/>
                <a:cs typeface="Arial"/>
              </a:rPr>
              <a:t>OQIM AI     /     STARTUP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16E5C5-3D4F-48E5-A998-1DC74FE4C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763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Следующий шаг: измеряемый пилот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6563BC-B1A8-4F94-AED4-B29ED95A3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106680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DE8F0"/>
                </a:solidFill>
                <a:latin typeface="Arial"/>
                <a:ea typeface="Arial"/>
                <a:cs typeface="Arial"/>
              </a:rPr>
              <a:t>Проверить подсчёт на размеченных разрешённых видео.</a:t>
            </a:r>
          </a:p>
          <a:p xmlns:a="http://schemas.openxmlformats.org/drawingml/2006/main">
            <a: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DE8F0"/>
                </a:solidFill>
                <a:latin typeface="Arial"/>
                <a:ea typeface="Arial"/>
                <a:cs typeface="Arial"/>
              </a:rPr>
              <a:t>Откалибровать выбранные камеры и геометрию дорог.</a:t>
            </a:r>
          </a:p>
          <a:p xmlns:a="http://schemas.openxmlformats.org/drawingml/2006/main">
            <a: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DE8F0"/>
                </a:solidFill>
                <a:latin typeface="Arial"/>
                <a:ea typeface="Arial"/>
                <a:cs typeface="Arial"/>
              </a:rPr>
              <a:t>Сопоставить прогноз очередей с фактическими наблюдениями.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DE8F0"/>
                </a:solidFill>
                <a:latin typeface="Arial"/>
                <a:ea typeface="Arial"/>
                <a:cs typeface="Arial"/>
              </a:rPr>
              <a:t>Коммерческая защита: интеграции и накопленные проверенные данные.</a:t>
            </a:r>
          </a:p>
          <a:p xmlns:a="http://schemas.openxmlformats.org/drawingml/2006/main">
            <a:pPr>
              <a:defRPr sz="2100" b="0">
                <a:solidFill>
                  <a:srgbClr val="DDE8F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DE8F0"/>
                </a:solidFill>
                <a:latin typeface="Arial"/>
                <a:ea typeface="Arial"/>
                <a:cs typeface="Arial"/>
              </a:rPr>
              <a:t>Один открытый детектор сам по себе не создаёт барьер копирования.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445FAE-D22F-4418-BCCB-FFFCE7E53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3412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8C9BA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8C9BA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8C9BAA"/>
                </a:solidFill>
                <a:latin typeface="Arial"/>
                <a:ea typeface="Arial"/>
                <a:cs typeface="Arial"/>
              </a:rPr>
              <a:t>8 / 8</a:t>
            </a:r>
          </a:p>
        </p:txBody>
      </p:sp>
    </p:spTree>
    <p:extLst>
      <p:ext uri="{BB962C8B-B14F-4D97-AF65-F5344CB8AC3E}">
        <p14:creationId xmlns:p14="http://schemas.microsoft.com/office/powerpoint/2010/main" val="19421022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2026-10-10T21:03:51.3700000Z</dcterms:created>
  <dcterms:modified xsi:type="dcterms:W3CDTF">2026-10-10T21:03:51.3700000Z</dcterms:modified>
</coreProperties>
</file>