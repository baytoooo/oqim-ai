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388de602e4215" /><Relationship Type="http://schemas.openxmlformats.org/officeDocument/2006/relationships/extended-properties" Target="/docProps/app.xml" Id="R22497172c56b473a" /><Relationship Type="http://schemas.openxmlformats.org/officeDocument/2006/relationships/officeDocument" Target="/ppt/presentation.xml" Id="R508acb00bb3143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b3f216b75e4071"/>
  </p:sldMasterIdLst>
  <p:notesMasterIdLst>
    <p:notesMasterId xmlns:r="http://schemas.openxmlformats.org/officeDocument/2006/relationships" r:id="R5247ca5f60074056"/>
  </p:notesMasterIdLst>
  <p:sldIdLst>
    <p:sldId xmlns:r="http://schemas.openxmlformats.org/officeDocument/2006/relationships" id="256" r:id="Ra47e6090b4a1482f"/>
    <p:sldId xmlns:r="http://schemas.openxmlformats.org/officeDocument/2006/relationships" id="257" r:id="Rd25e7d2e37124608"/>
    <p:sldId xmlns:r="http://schemas.openxmlformats.org/officeDocument/2006/relationships" id="258" r:id="R2b12358212ee4d9b"/>
    <p:sldId xmlns:r="http://schemas.openxmlformats.org/officeDocument/2006/relationships" id="259" r:id="Ra655391b8b8a419b"/>
    <p:sldId xmlns:r="http://schemas.openxmlformats.org/officeDocument/2006/relationships" id="260" r:id="Rf7d253ceaf8347b4"/>
    <p:sldId xmlns:r="http://schemas.openxmlformats.org/officeDocument/2006/relationships" id="261" r:id="R4fd29910e296402c"/>
    <p:sldId xmlns:r="http://schemas.openxmlformats.org/officeDocument/2006/relationships" id="262" r:id="Ra445d129b8ea4eaa"/>
    <p:sldId xmlns:r="http://schemas.openxmlformats.org/officeDocument/2006/relationships" id="263" r:id="R9a92acb14eda4e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86dcd8b674beb" /><Relationship Type="http://schemas.openxmlformats.org/officeDocument/2006/relationships/slideMaster" Target="/ppt/slideMasters/slideMaster1.xml" Id="Rceb3f216b75e4071" /><Relationship Type="http://schemas.openxmlformats.org/officeDocument/2006/relationships/notesMaster" Target="/ppt/notesMasters/notesMaster1.xml" Id="R5247ca5f60074056" /><Relationship Type="http://schemas.openxmlformats.org/officeDocument/2006/relationships/presProps" Target="/ppt/presProps.xml" Id="Rbf10fda67730436d" /><Relationship Type="http://schemas.openxmlformats.org/officeDocument/2006/relationships/tableStyles" Target="/ppt/tableStyles.xml" Id="Ra7f82ec9b8be497a" /><Relationship Type="http://schemas.openxmlformats.org/officeDocument/2006/relationships/slide" Target="/ppt/slides/slide1.xml" Id="Ra47e6090b4a1482f" /><Relationship Type="http://schemas.openxmlformats.org/officeDocument/2006/relationships/slide" Target="/ppt/slides/slide2.xml" Id="Rd25e7d2e37124608" /><Relationship Type="http://schemas.openxmlformats.org/officeDocument/2006/relationships/slide" Target="/ppt/slides/slide3.xml" Id="R2b12358212ee4d9b" /><Relationship Type="http://schemas.openxmlformats.org/officeDocument/2006/relationships/slide" Target="/ppt/slides/slide4.xml" Id="Ra655391b8b8a419b" /><Relationship Type="http://schemas.openxmlformats.org/officeDocument/2006/relationships/slide" Target="/ppt/slides/slide5.xml" Id="Rf7d253ceaf8347b4" /><Relationship Type="http://schemas.openxmlformats.org/officeDocument/2006/relationships/slide" Target="/ppt/slides/slide6.xml" Id="R4fd29910e296402c" /><Relationship Type="http://schemas.openxmlformats.org/officeDocument/2006/relationships/slide" Target="/ppt/slides/slide7.xml" Id="Ra445d129b8ea4eaa" /><Relationship Type="http://schemas.openxmlformats.org/officeDocument/2006/relationships/slide" Target="/ppt/slides/slide8.xml" Id="R9a92acb14eda4e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944406527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a5bbac80543e7" /><Relationship Type="http://schemas.openxmlformats.org/officeDocument/2006/relationships/notesMaster" Target="/ppt/notesMasters/notesMaster1.xml" Id="Rf4c19fb0152247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f13eba1bde4607" /><Relationship Type="http://schemas.openxmlformats.org/officeDocument/2006/relationships/notesMaster" Target="/ppt/notesMasters/notesMaster1.xml" Id="Rddadf767c945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f106de18c4459" /><Relationship Type="http://schemas.openxmlformats.org/officeDocument/2006/relationships/notesMaster" Target="/ppt/notesMasters/notesMaster1.xml" Id="R3f056e3165e9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244315e19148a5" /><Relationship Type="http://schemas.openxmlformats.org/officeDocument/2006/relationships/notesMaster" Target="/ppt/notesMasters/notesMaster1.xml" Id="Rc72907156b6b40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91fca7b3264027" /><Relationship Type="http://schemas.openxmlformats.org/officeDocument/2006/relationships/notesMaster" Target="/ppt/notesMasters/notesMaster1.xml" Id="Rdfafec7dade24c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8f2fd7888a4125" /><Relationship Type="http://schemas.openxmlformats.org/officeDocument/2006/relationships/notesMaster" Target="/ppt/notesMasters/notesMaster1.xml" Id="R7d6cce66927b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acf30cd5545b5" /><Relationship Type="http://schemas.openxmlformats.org/officeDocument/2006/relationships/notesMaster" Target="/ppt/notesMasters/notesMaster1.xml" Id="Rb173910356b8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039e45502642fb" /><Relationship Type="http://schemas.openxmlformats.org/officeDocument/2006/relationships/notesMaster" Target="/ppt/notesMasters/notesMaster1.xml" Id="Rb180efb6a37d41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Режим Startup. Источник требований: правила финала, предоставленные пользователем. Публичный прототип: https://baytoooo.github.io/oqim-ai/ . Полный исходный код: https://github.com/baytoooo/oqim-ai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гипотеза о покупателе и проблеме, не результат интервью. Предлагаемый пилот: PILOT_PLAN.md. Не представлять транспортного оператора или автодилера как существующего клиента.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реальной локальной версии1.1, сделанный при браузерной проверке. Страница доказательств пересчитала120сценариев на устройстве. Встроенные видео используются только при отсутствии разрешённого видео жюри. Первую загрузку модели выполнить заранее.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PariVision https://github.com/baytoooo/parivision-traffic , AGPL-3.0, переиспользованные detector.ts/tracker.ts/geometry.ts и pretrainedYOLO26s. OQIM поправляет IoU и добавляет измерение/интеграцию/сеть. Код написан при помощи Codex. Открытые компоненты не выданы за созданные во время финала.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dist/evidence/network-benchmark.json. npm run benchmark. Фиксированная сетка120сценариев, не подбор лучших. Средние24.55118% и20.05511%. Худшие исходы−28.5587% и−11.5646%. Сужение имеет известное модели расписание. Будущие случайные прибытия скрыты. Нет реального измеренного дорожного эффекта.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измерений: evaluation/motorway-measurement.json и dist/evidence/cv-evaluation.json. Протокол evaluation/PROTOCOL.md заморожен до первого запуска в commitc268abc. Метки: https://github.com/safdar-hussain1/trafficlens/tree/f0eaf0181c1d25e2c05ef95ae7f3cc312e3e1150/data/groundtruth , Safdar Hussain, MIT. Видео: https://commons.wikimedia.org/wiki/File:Motorway_A40_-_on_bridge_above_the_traffic.webm , Kathinka Engels / Sounds of Changes, CC BY3.0. Уменьшено до960px,H.264,беззвука. Малый внешний набор с вероятными метками, не доказательство обобщения. Ночь показывает пропуски, численной оценки точности для ночи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PILOT_PLAN.md. Гипотезы:1000setup,300subscription,120cost; вклад180. Клиенту для6месяцев окупаемости нужно300+1000/6=466.6667. Финансовых обещаний и подтверждённых продаж нет. Синтетические24.6% не пересчитываются в деньги клиента.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PILOT_PLAN.md. Критерии являются целями будущего пилота, не достигнутыми результатами. Ночь/дождь проверять отдельно. Минимум20событий на отрезок для относительной ошибки. Результаты не позволяют управлять реальными светофорами без оператора и отдельной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04671307c43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0f82d591c41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d888b137e42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37f9614f946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ec57b860e44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c30b1870442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67A86A-CF09-4012-94D4-FFF8ABAC68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58CC8D-83C9-4322-88AF-2F5AC7D993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5D38F5-DF64-4ABA-BCF1-8A10982F55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3155FE-B027-4EF7-B521-B8AE78C0E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D14662-1FDB-44E1-A989-981CFEDB1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270CE4-0039-425B-B561-9F78E73EA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C3AFE9-85E9-48A3-92CC-68C66282D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927BC3-59FC-4A1C-911C-D15F81AC9A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A6BDC-073A-4E24-B8DE-D8FC66727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7CC0F6-3664-41DF-82D8-3A84BAE4B4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54785aa25f42d6" /><Relationship Type="http://schemas.openxmlformats.org/officeDocument/2006/relationships/slideLayout" Target="/ppt/slideLayouts/slideLayout1.xml" Id="R132b067579894def" /><Relationship Type="http://schemas.openxmlformats.org/officeDocument/2006/relationships/slideLayout" Target="/ppt/slideLayouts/slideLayout2.xml" Id="R4046c66dad2e4e4d" /><Relationship Type="http://schemas.openxmlformats.org/officeDocument/2006/relationships/slideLayout" Target="/ppt/slideLayouts/slideLayout3.xml" Id="Re7671b1d65074b23" /><Relationship Type="http://schemas.openxmlformats.org/officeDocument/2006/relationships/slideLayout" Target="/ppt/slideLayouts/slideLayout4.xml" Id="R574b9ee06a5a4197" /><Relationship Type="http://schemas.openxmlformats.org/officeDocument/2006/relationships/slideLayout" Target="/ppt/slideLayouts/slideLayout5.xml" Id="Rcdbbfdbe19804955" /><Relationship Type="http://schemas.openxmlformats.org/officeDocument/2006/relationships/slideLayout" Target="/ppt/slideLayouts/slideLayout6.xml" Id="R341b6992464b4f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b067579894def"/>
    <p:sldLayoutId xmlns:r="http://schemas.openxmlformats.org/officeDocument/2006/relationships" id="2147483650" r:id="R4046c66dad2e4e4d"/>
    <p:sldLayoutId xmlns:r="http://schemas.openxmlformats.org/officeDocument/2006/relationships" id="2147483651" r:id="Re7671b1d65074b23"/>
    <p:sldLayoutId xmlns:r="http://schemas.openxmlformats.org/officeDocument/2006/relationships" id="2147483652" r:id="R574b9ee06a5a4197"/>
    <p:sldLayoutId xmlns:r="http://schemas.openxmlformats.org/officeDocument/2006/relationships" id="2147483653" r:id="Rcdbbfdbe19804955"/>
    <p:sldLayoutId xmlns:r="http://schemas.openxmlformats.org/officeDocument/2006/relationships" id="2147483654" r:id="R341b6992464b4f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5e11635d246fa" /><Relationship Type="http://schemas.openxmlformats.org/officeDocument/2006/relationships/notesSlide" Target="/ppt/notesSlides/notesSlide1.xml" Id="R69c0f15d25f8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c48277de047b8" /><Relationship Type="http://schemas.openxmlformats.org/officeDocument/2006/relationships/notesSlide" Target="/ppt/notesSlides/notesSlide2.xml" Id="R43d21d63ae9c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ff94073de4344" /><Relationship Type="http://schemas.openxmlformats.org/officeDocument/2006/relationships/image" Target="/ppt/media/image.jpeg" Id="Rb5d46d5fc41e451b" /><Relationship Type="http://schemas.openxmlformats.org/officeDocument/2006/relationships/notesSlide" Target="/ppt/notesSlides/notesSlide3.xml" Id="R54a8f5a29a1d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8c80b413c4c8b" /><Relationship Type="http://schemas.openxmlformats.org/officeDocument/2006/relationships/notesSlide" Target="/ppt/notesSlides/notesSlide4.xml" Id="Rf029770df9484c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ee43ffbc34aeb" /><Relationship Type="http://schemas.openxmlformats.org/officeDocument/2006/relationships/notesSlide" Target="/ppt/notesSlides/notesSlide5.xml" Id="R31052b6c5032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15936821141b1" /><Relationship Type="http://schemas.openxmlformats.org/officeDocument/2006/relationships/notesSlide" Target="/ppt/notesSlides/notesSlide6.xml" Id="R6c1fbd66f7e346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27aecd9834c4f" /><Relationship Type="http://schemas.openxmlformats.org/officeDocument/2006/relationships/notesSlide" Target="/ppt/notesSlides/notesSlide7.xml" Id="R055c25b6c040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cc7d49307407a" /><Relationship Type="http://schemas.openxmlformats.org/officeDocument/2006/relationships/notesSlide" Target="/ppt/notesSlides/notesSlide8.xml" Id="R537ade8ea6f446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865EC-6F1B-4863-9415-06AFA4D1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87110-21E8-4BB6-A226-7EC4AD70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OQIM AI</a:t>
            </a:r>
          </a:p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Решения для дорожной сети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7180C-BF1F-4C02-8311-B17DE201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Измеряем поток на видео и проверяем последствия решений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для нескольких связанных участков.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Startup. Покупатель: транспортный оператор или интегратор.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Исследовательский прототип, реальные светофоры не подключены.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8FA32-7C58-4E10-BE10-1A30B1C2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1769740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0034A-F068-4E4D-8754-C54EB5E3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00636-EFA6-4D90-803E-61FA858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Покупатель и его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68B04-CBDE-4E9C-99CC-8615612C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Оператору нужно уменьшить очередь, не перегрузив соседний участок.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OQIM сравнивает варианты при одинаковом входном потоке.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Первый объект: въезд и 2–4 соседних регулируемых узла.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Покупатель оплачивает настройку камер и проверяемый отчёт.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Спрос и готовность платить предстоит подтвердить пилотом.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F2E2A-8E96-48A6-8B22-443A160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951282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5A587-4C29-4FAB-8E1D-20E3BEA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9D9FD-38AE-41EB-8E05-5EAE8E5F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Живое демо на новом видео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EC2AD-0D7C-496F-BFE2-C7F6C7C7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191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1. Видео с устройства жюри.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2. Отрезок и направление.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3. Подсчёт и скорость.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4. Три режима и экспорт.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Вычисления локальные.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Первый запуск: ≈46 МБ.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Перед защитой прогреть кэш.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66B33-7151-405D-A56D-7876CE6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6874F-9AA5-42AE-A7BA-08A3862EE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46d5fc41e451b"/>
          <a:stretch xmlns:a="http://schemas.openxmlformats.org/drawingml/2006/main"/>
        </p:blipFill>
        <p:spPr>
          <a:xfrm xmlns:a="http://schemas.openxmlformats.org/drawingml/2006/main">
            <a:off x="5048250" y="2240756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07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E163E-8DFF-4C92-95D7-BFC0DFE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8025B-631B-42DB-97E5-725AACE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Технология и вклад команды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1E46F-4307-4F4C-8892-354F8B99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YOLO26s и ByteTrack: открытая детекция и трекинг из PariVision.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OQIM: отрезок учёта, направления и неопределённость замера.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Сеть: конечная вместимость, очереди и время проезда.</a:t>
            </a:r>
          </a:p>
          <a:p xmlns:a="http://schemas.openxmlformats.org/drawingml/2006/main">
            <a:r>
              <a:t>Оптимизатор сравнивает зелёные фазы на 90 секунд вперёд.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21 тест. Защитные интервалы и смена плана на границе цикла.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AGPL-3.0, источники и помощь Codex раскрыты в репозитории.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2240B-3715-4D7F-9660-B362F6C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71699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F58E-6DF7-4930-B10F-2D0F527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87928-A728-4208-B490-4C7804D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120 сценариев: эффект и границы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D754F-B940-4105-925F-50CBEDB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4 интенсивности × 2 боковых потока × 3 условия × 5 seeds</a:t>
            </a:r>
          </a:p>
          <a:p xmlns:a="http://schemas.openxmlformats.org/drawingml/2006/main">
            <a:r>
              <a:t>4 узла, 10 минут. Все исходы включены, входы одинаковы.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97A06-58E5-4B69-89E2-F8DACD3A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800B9-A7E1-415D-8B34-A2CBF52AB7AC}"/>
              </a:ext>
            </a:extLst>
          </p:cNvPr>
          <p:cNvGraphicFramePr/>
          <p:nvPr/>
        </p:nvGraphicFramePr>
        <p:xfrm>
          <a:off xmlns:a="http://schemas.openxmlformats.org/drawingml/2006/main" x="609600" y="3286125"/>
          <a:ext xmlns:a="http://schemas.openxmlformats.org/drawingml/2006/main" cx="10858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2809875"/>
                <a:gridCol w="2333625"/>
                <a:gridCol w="2428875"/>
              </a:tblGrid>
              <a:tr h="603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C9BAA"/>
                          </a:solidFill>
                          <a:latin typeface="Arial"/>
                          <a:ea typeface="Arial"/>
                          <a:cs typeface="Arial"/>
                        </a:rPr>
                        <a:t>Базовый режим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C9BAA"/>
                          </a:solidFill>
                          <a:latin typeface="Arial"/>
                          <a:ea typeface="Arial"/>
                          <a:cs typeface="Arial"/>
                        </a:rPr>
                        <a:t>Среднее снижение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C9BAA"/>
                          </a:solidFill>
                          <a:latin typeface="Arial"/>
                          <a:ea typeface="Arial"/>
                          <a:cs typeface="Arial"/>
                        </a:rPr>
                        <a:t>Победы / потери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8C9BAA"/>
                          </a:solidFill>
                          <a:latin typeface="Arial"/>
                          <a:ea typeface="Arial"/>
                          <a:cs typeface="Arial"/>
                        </a:rPr>
                        <a:t>Худший исход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Фиксированный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24.6%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104 / 16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−28,6%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Реактивный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20.1%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118 / 2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DDE8F0"/>
                          </a:solidFill>
                          <a:latin typeface="Arial"/>
                          <a:ea typeface="Arial"/>
                          <a:cs typeface="Arial"/>
                        </a:rPr>
                        <a:t>−11,6%</a:t>
                      </a:r>
                    </a:p>
                  </a:txBody>
                  <a:tcPr marL="91440" marR="91440" marT="45720" marB="45720">
                    <a:solidFill>
                      <a:srgbClr val="0B111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463F6-62DF-4E47-A92E-9E1B0AA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DB9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DB9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B96A"/>
                </a:solidFill>
                <a:latin typeface="Arial"/>
                <a:ea typeface="Arial"/>
                <a:cs typeface="Arial"/>
              </a:rPr>
              <a:t>Минус означает рост задержки. Это симуляция, не эффект в городе.</a:t>
            </a:r>
          </a:p>
        </p:txBody>
      </p:sp>
    </p:spTree>
    <p:extLst>
      <p:ext uri="{BB962C8B-B14F-4D97-AF65-F5344CB8AC3E}">
        <p14:creationId xmlns:p14="http://schemas.microsoft.com/office/powerpoint/2010/main" val="14713037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FCCD-CD86-414E-A69D-63A1BB6A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A3E57-A66F-4D2F-8F3B-775927C7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Видео: 16 из 17 событий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07CA7-2D55-4A8B-B0AC-382C6B5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A40, 24,5 с. Строгий допуск: −1 / +4 кадра при 30 fps.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16 совпадений, 1 пропуск, 0 лишних. F1 97.0%.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Все 7 уверенных меток совпали. 10 меток из 17 вероятные.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245 кадров за 14.5 с. Apple M5, 16 ГБ, WebGPU.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Внешняя разметка: Safdar Hussain / TrafficLens, MIT.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Один дневной ролик. Ночь и местные камеры ещё не валидированы.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C8E1C-3E58-4421-8B71-D7F7ECD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934247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5063B-5DCA-4674-A8DF-FF58CC9A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D40DC-5D06-4A8B-AFCF-1465DFB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Экономика пилота: гипотезы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5F4C2-82A0-4342-8351-F867D67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На объект: подключение $1 000, подписка $300 в месяц.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Прямые расходы $120, вклад до общих расходов $180 в месяц.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Для окупаемости за 6 месяцев клиенту нужна подтверждённая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экономия не менее $467 в месяц до подписки.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Все цены и расходы являются гипотезами. Продаж пока нет.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Оборудование, монтаж и городская интеграция считаются отдельно.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2B7E-DD03-48C3-8395-3A05B16F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784470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946F5-4FD2-40C0-9B3A-CEBB5B45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70E4B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0E4B7"/>
                </a:solidFill>
                <a:latin typeface="Arial"/>
                <a:ea typeface="Arial"/>
                <a:cs typeface="Arial"/>
              </a:rPr>
              <a:t>OQIM AI     /    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6E5C5-3D4F-48E5-A998-1DC74FE4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с измеримыми условиями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563BC-B1A8-4F94-AED4-B29ED95A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Один оператор, 2 недели, 12 размеченных отрезков с разных камер.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Два независимых разметчика и отложенная проверка качества.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Цели: ошибка счёта ≤10%, precision и recall событий ≥0,90.</a:t>
            </a:r>
          </a:p>
          <a:p xmlns:a="http://schemas.openxmlformats.org/drawingml/2006/main">
            <a:r>
              <a:t>Порог ошибки прогноза очереди согласуется до испытаний.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Бизнес-защита в перспективе: проверенные данные и интеграции.</a:t>
            </a:r>
          </a:p>
          <a:p xmlns:a="http://schemas.openxmlformats.org/drawingml/2006/main">
            <a:pPr>
              <a:buNone/>
              <a:defRPr sz="2100" b="0">
                <a:solidFill>
                  <a:srgbClr val="DDE8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8F0"/>
                </a:solidFill>
                <a:latin typeface="Arial"/>
                <a:ea typeface="Arial"/>
                <a:cs typeface="Arial"/>
              </a:rPr>
              <a:t>Сегодня код открыт, преимущества внедрения ещё не доказаны.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45FAE-D22F-4418-BCCB-FFFCE7E5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8C9BA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C9BAA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94210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2026-10-10T23:26:48.1340000Z</dcterms:created>
  <dcterms:modified xsi:type="dcterms:W3CDTF">2026-10-10T23:26:48.1340000Z</dcterms:modified>
</coreProperties>
</file>